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1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6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4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7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4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0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2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3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6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D9C7E-8CB6-4D79-8A77-63BD3F5EBA68}" type="datetimeFigureOut">
              <a:rPr lang="en-US" smtClean="0"/>
              <a:t>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88A13-C1A5-4298-973B-8ED82350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0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NGW Model Designations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99" y="3372144"/>
            <a:ext cx="4792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NGW</a:t>
            </a:r>
            <a:r>
              <a:rPr lang="en-US" sz="4400" dirty="0">
                <a:solidFill>
                  <a:srgbClr val="7030A0"/>
                </a:solidFill>
              </a:rPr>
              <a:t>1</a:t>
            </a:r>
            <a:r>
              <a:rPr lang="en-US" sz="4400" dirty="0"/>
              <a:t>-</a:t>
            </a:r>
            <a:r>
              <a:rPr lang="en-US" sz="4400" dirty="0">
                <a:solidFill>
                  <a:srgbClr val="00B050"/>
                </a:solidFill>
              </a:rPr>
              <a:t>X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XX</a:t>
            </a:r>
            <a:r>
              <a:rPr lang="en-US" sz="4400" dirty="0">
                <a:solidFill>
                  <a:srgbClr val="C00000"/>
                </a:solidFill>
              </a:rPr>
              <a:t>X</a:t>
            </a:r>
            <a:r>
              <a:rPr lang="en-US" sz="4400" dirty="0">
                <a:solidFill>
                  <a:srgbClr val="00B0F0"/>
                </a:solidFill>
              </a:rPr>
              <a:t>X</a:t>
            </a:r>
            <a:r>
              <a:rPr lang="en-US" sz="4400" dirty="0">
                <a:solidFill>
                  <a:srgbClr val="FFC000"/>
                </a:solidFill>
              </a:rPr>
              <a:t>XX</a:t>
            </a:r>
          </a:p>
        </p:txBody>
      </p:sp>
      <p:sp>
        <p:nvSpPr>
          <p:cNvPr id="8" name="Left Brace 7"/>
          <p:cNvSpPr/>
          <p:nvPr/>
        </p:nvSpPr>
        <p:spPr>
          <a:xfrm rot="16200000">
            <a:off x="3226194" y="3770168"/>
            <a:ext cx="70339" cy="56699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407440" y="4339298"/>
            <a:ext cx="1707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Discharge Direction</a:t>
            </a:r>
          </a:p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LR = Left to Right </a:t>
            </a:r>
          </a:p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RL=right to left</a:t>
            </a:r>
          </a:p>
        </p:txBody>
      </p:sp>
      <p:sp>
        <p:nvSpPr>
          <p:cNvPr id="10" name="Left Brace 9"/>
          <p:cNvSpPr/>
          <p:nvPr/>
        </p:nvSpPr>
        <p:spPr>
          <a:xfrm rot="5400000">
            <a:off x="2716236" y="3276501"/>
            <a:ext cx="202226" cy="288008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215076" y="2897432"/>
            <a:ext cx="1204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Generation</a:t>
            </a:r>
          </a:p>
        </p:txBody>
      </p:sp>
      <p:sp>
        <p:nvSpPr>
          <p:cNvPr id="12" name="Left Brace 11"/>
          <p:cNvSpPr/>
          <p:nvPr/>
        </p:nvSpPr>
        <p:spPr>
          <a:xfrm rot="5400000">
            <a:off x="3598405" y="3278370"/>
            <a:ext cx="199290" cy="287205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18159" y="2560155"/>
            <a:ext cx="1204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OS </a:t>
            </a:r>
          </a:p>
          <a:p>
            <a:pPr algn="ctr"/>
            <a:r>
              <a:rPr lang="en-US" sz="1200" b="1" dirty="0">
                <a:solidFill>
                  <a:srgbClr val="C00000"/>
                </a:solidFill>
              </a:rPr>
              <a:t>L=Linux</a:t>
            </a:r>
          </a:p>
          <a:p>
            <a:pPr algn="ctr"/>
            <a:r>
              <a:rPr lang="en-US" sz="1200" b="1" dirty="0">
                <a:solidFill>
                  <a:srgbClr val="C00000"/>
                </a:solidFill>
              </a:rPr>
              <a:t>W=Windows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3482" y="4076410"/>
            <a:ext cx="170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</a:rPr>
              <a:t>International </a:t>
            </a:r>
          </a:p>
          <a:p>
            <a:pPr algn="ctr"/>
            <a:r>
              <a:rPr lang="en-US" sz="1200" b="1" dirty="0">
                <a:solidFill>
                  <a:srgbClr val="00B0F0"/>
                </a:solidFill>
              </a:rPr>
              <a:t>(Chile)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52307" y="3989185"/>
            <a:ext cx="402584" cy="228593"/>
            <a:chOff x="4916762" y="3281110"/>
            <a:chExt cx="402584" cy="228593"/>
          </a:xfrm>
        </p:grpSpPr>
        <p:sp>
          <p:nvSpPr>
            <p:cNvPr id="14" name="Left Brace 13"/>
            <p:cNvSpPr/>
            <p:nvPr/>
          </p:nvSpPr>
          <p:spPr>
            <a:xfrm rot="16200000">
              <a:off x="4998428" y="3199444"/>
              <a:ext cx="99648" cy="262979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048252" y="3509703"/>
              <a:ext cx="2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4692367" y="3020093"/>
            <a:ext cx="2105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</a:rPr>
              <a:t>Customer Specific Variants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190431" y="3190032"/>
            <a:ext cx="546974" cy="331586"/>
            <a:chOff x="5254886" y="2481957"/>
            <a:chExt cx="546974" cy="331586"/>
          </a:xfrm>
        </p:grpSpPr>
        <p:sp>
          <p:nvSpPr>
            <p:cNvPr id="18" name="Left Brace 17"/>
            <p:cNvSpPr/>
            <p:nvPr/>
          </p:nvSpPr>
          <p:spPr>
            <a:xfrm rot="5400000">
              <a:off x="5403281" y="2460002"/>
              <a:ext cx="205146" cy="501935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5505854" y="2481957"/>
              <a:ext cx="29600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123342" y="4069784"/>
            <a:ext cx="953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Number of film rolls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108973" y="4018493"/>
            <a:ext cx="429357" cy="246910"/>
            <a:chOff x="3173428" y="3310418"/>
            <a:chExt cx="429357" cy="246910"/>
          </a:xfrm>
        </p:grpSpPr>
        <p:sp>
          <p:nvSpPr>
            <p:cNvPr id="22" name="Left Brace 21"/>
            <p:cNvSpPr/>
            <p:nvPr/>
          </p:nvSpPr>
          <p:spPr>
            <a:xfrm rot="16200000">
              <a:off x="3393230" y="3203447"/>
              <a:ext cx="102584" cy="316526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3173428" y="3557328"/>
              <a:ext cx="2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152890" y="1493841"/>
            <a:ext cx="45705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NGW Devices for Phase 1 Release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NGW1-1LRL</a:t>
            </a:r>
            <a:r>
              <a:rPr lang="en-US" sz="1600" dirty="0"/>
              <a:t> – 1 roll, L-R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NGW2-1LRL</a:t>
            </a:r>
            <a:r>
              <a:rPr lang="en-US" sz="1600" dirty="0"/>
              <a:t> – 2 roll, L-R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NGW1-1RLL</a:t>
            </a:r>
            <a:r>
              <a:rPr lang="en-US" sz="1600" dirty="0"/>
              <a:t> - 1 roll, R-L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NGW2-1RLL</a:t>
            </a:r>
            <a:r>
              <a:rPr lang="en-US" sz="1600" dirty="0"/>
              <a:t> – 2 roll, R-L direction Linux OS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718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Enhanced Model Designations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9360" y="2933700"/>
            <a:ext cx="38662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AWS-3LRXX</a:t>
            </a:r>
          </a:p>
          <a:p>
            <a:r>
              <a:rPr lang="en-US" dirty="0"/>
              <a:t>AWS-3RLXX</a:t>
            </a:r>
          </a:p>
          <a:p>
            <a:endParaRPr lang="en-US" dirty="0"/>
          </a:p>
          <a:p>
            <a:r>
              <a:rPr lang="en-US" dirty="0"/>
              <a:t>EWS-3LRXX</a:t>
            </a:r>
          </a:p>
          <a:p>
            <a:r>
              <a:rPr lang="en-US" dirty="0"/>
              <a:t>EWS-3RLXX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480" y="1751648"/>
            <a:ext cx="9872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 designation will be the same convention as today except we are adding EWS for the single roll machine instead of the “B” designation.  EPP-3 and EPCP-5i ordered and shipped as separate devices.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954780" y="2994660"/>
            <a:ext cx="129540" cy="5334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12920" y="3076694"/>
            <a:ext cx="1805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film rolls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3954780" y="3820775"/>
            <a:ext cx="129540" cy="5334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12920" y="3902809"/>
            <a:ext cx="1805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film 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871" y="2994660"/>
            <a:ext cx="39213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Enhanced Devices for Phase 1 Release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EWS-3LR</a:t>
            </a:r>
            <a:r>
              <a:rPr lang="en-US" sz="1600" dirty="0"/>
              <a:t> – 1 roll, L-R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AWS-3LR</a:t>
            </a:r>
            <a:r>
              <a:rPr lang="en-US" sz="1600" dirty="0"/>
              <a:t> – 2 roll, L-R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EWS-3RL</a:t>
            </a:r>
            <a:r>
              <a:rPr lang="en-US" sz="1600" dirty="0"/>
              <a:t> - 1 roll, R-L direction Linux 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AWS-3RL</a:t>
            </a:r>
            <a:r>
              <a:rPr lang="en-US" sz="1600" dirty="0"/>
              <a:t> – 2 roll, R-L direction Linux OS</a:t>
            </a:r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2593145" y="5606852"/>
            <a:ext cx="2479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EPCP-5</a:t>
            </a:r>
            <a:r>
              <a:rPr lang="en-US" sz="4000" dirty="0">
                <a:solidFill>
                  <a:srgbClr val="FF0000"/>
                </a:solidFill>
              </a:rPr>
              <a:t>X</a:t>
            </a:r>
            <a:r>
              <a:rPr lang="en-US" sz="4000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11" name="Left Brace 10"/>
          <p:cNvSpPr/>
          <p:nvPr/>
        </p:nvSpPr>
        <p:spPr>
          <a:xfrm rot="5400000">
            <a:off x="4163863" y="5468760"/>
            <a:ext cx="190643" cy="26807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63879" y="4638809"/>
            <a:ext cx="1858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Processor</a:t>
            </a:r>
          </a:p>
          <a:p>
            <a:pPr algn="ctr"/>
            <a:r>
              <a:rPr lang="en-US" sz="1400" b="1" dirty="0" err="1">
                <a:solidFill>
                  <a:srgbClr val="C00000"/>
                </a:solidFill>
              </a:rPr>
              <a:t>i</a:t>
            </a:r>
            <a:r>
              <a:rPr lang="en-US" sz="1400" b="1" dirty="0">
                <a:solidFill>
                  <a:srgbClr val="C00000"/>
                </a:solidFill>
              </a:rPr>
              <a:t> – 1.0 gigahertz</a:t>
            </a:r>
          </a:p>
          <a:p>
            <a:pPr algn="ctr"/>
            <a:r>
              <a:rPr lang="en-US" sz="1400" b="1" dirty="0">
                <a:solidFill>
                  <a:srgbClr val="C00000"/>
                </a:solidFill>
              </a:rPr>
              <a:t>X – 1.2 gigahertz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5298" y="6169681"/>
            <a:ext cx="170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Wrapper model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E - Enhanced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423808" y="6169682"/>
            <a:ext cx="402584" cy="228593"/>
            <a:chOff x="4916762" y="3281110"/>
            <a:chExt cx="402584" cy="228593"/>
          </a:xfrm>
        </p:grpSpPr>
        <p:sp>
          <p:nvSpPr>
            <p:cNvPr id="15" name="Left Brace 14"/>
            <p:cNvSpPr/>
            <p:nvPr/>
          </p:nvSpPr>
          <p:spPr>
            <a:xfrm rot="16200000">
              <a:off x="4998428" y="3199444"/>
              <a:ext cx="99648" cy="262979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048252" y="3509703"/>
              <a:ext cx="2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052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EPCP Model Designations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393" y="3356021"/>
            <a:ext cx="2479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EPCP-</a:t>
            </a:r>
            <a:r>
              <a:rPr lang="en-US" sz="4000" dirty="0">
                <a:solidFill>
                  <a:srgbClr val="7030A0"/>
                </a:solidFill>
              </a:rPr>
              <a:t>X</a:t>
            </a:r>
            <a:r>
              <a:rPr lang="en-US" sz="4000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4" name="Left Brace 3"/>
          <p:cNvSpPr/>
          <p:nvPr/>
        </p:nvSpPr>
        <p:spPr>
          <a:xfrm rot="5400000">
            <a:off x="4111111" y="3217929"/>
            <a:ext cx="190643" cy="26807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02546" y="3918850"/>
            <a:ext cx="170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Wrapper model</a:t>
            </a:r>
          </a:p>
          <a:p>
            <a:pPr algn="ctr"/>
            <a:r>
              <a:rPr lang="en-US" sz="1400" b="1" dirty="0">
                <a:solidFill>
                  <a:srgbClr val="0070C0"/>
                </a:solidFill>
              </a:rPr>
              <a:t>e = Enhanced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71056" y="3918851"/>
            <a:ext cx="402584" cy="228593"/>
            <a:chOff x="4916762" y="3281110"/>
            <a:chExt cx="402584" cy="228593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998428" y="3199444"/>
              <a:ext cx="99648" cy="262979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5048252" y="3509703"/>
              <a:ext cx="2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7942385" y="1997917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EPCP Devices for Phase 1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EPCP-5e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0323" y="4018499"/>
            <a:ext cx="3282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***EPCP-5i &amp; EPCP-6x (current production models) will continue to be sold with current AWS, EWS, CLAS, and HWS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2005" y="3930573"/>
            <a:ext cx="13455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OS</a:t>
            </a:r>
          </a:p>
          <a:p>
            <a:pPr algn="ctr"/>
            <a:r>
              <a:rPr lang="en-US" sz="1400" b="1" dirty="0">
                <a:solidFill>
                  <a:srgbClr val="7030A0"/>
                </a:solidFill>
              </a:rPr>
              <a:t>5 = Linux</a:t>
            </a:r>
          </a:p>
          <a:p>
            <a:pPr algn="ctr"/>
            <a:r>
              <a:rPr lang="en-US" sz="1400" b="1" dirty="0">
                <a:solidFill>
                  <a:srgbClr val="7030A0"/>
                </a:solidFill>
              </a:rPr>
              <a:t>6 = Windows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665208" y="3930573"/>
            <a:ext cx="429357" cy="246910"/>
            <a:chOff x="3173428" y="3310418"/>
            <a:chExt cx="429357" cy="246910"/>
          </a:xfrm>
        </p:grpSpPr>
        <p:sp>
          <p:nvSpPr>
            <p:cNvPr id="18" name="Left Brace 17"/>
            <p:cNvSpPr/>
            <p:nvPr/>
          </p:nvSpPr>
          <p:spPr>
            <a:xfrm rot="16200000">
              <a:off x="3393230" y="3203447"/>
              <a:ext cx="102584" cy="316526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3173428" y="3557328"/>
              <a:ext cx="2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777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224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NGW Model Designations</vt:lpstr>
      <vt:lpstr>Enhanced Model Designations</vt:lpstr>
      <vt:lpstr>EPCP Model Designations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Carla Monnier</dc:creator>
  <cp:lastModifiedBy>Carla Monnier</cp:lastModifiedBy>
  <cp:revision>14</cp:revision>
  <dcterms:created xsi:type="dcterms:W3CDTF">2017-01-10T18:24:44Z</dcterms:created>
  <dcterms:modified xsi:type="dcterms:W3CDTF">2017-01-18T13:21:07Z</dcterms:modified>
</cp:coreProperties>
</file>